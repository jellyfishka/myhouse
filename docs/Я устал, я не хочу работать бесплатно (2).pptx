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F48F62-A5C9-4509-A380-F99C4D51E0FF}">
  <a:tblStyle styleId="{67F48F62-A5C9-4509-A380-F99C4D51E0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AF0"/>
          </a:solidFill>
        </a:fill>
      </a:tcStyle>
    </a:wholeTbl>
    <a:band1H>
      <a:tcTxStyle b="off" i="off"/>
      <a:tcStyle>
        <a:tcBdr/>
        <a:fill>
          <a:solidFill>
            <a:srgbClr val="D7D2D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7D2DF"/>
          </a:solidFill>
        </a:fill>
      </a:tcStyle>
    </a:band1V>
    <a:band2V>
      <a:tcTxStyle b="off" i="off"/>
      <a:tcStyle>
        <a:tcBdr/>
        <a:fill>
          <a:solidFill>
            <a:srgbClr val="D7D2DF"/>
          </a:solidFill>
        </a:fill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0" y="11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707f6263b_3_5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398" cy="411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71" name="Google Shape;71;g38707f6263b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548" cy="342899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707f6263b_3_93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114" name="Google Shape;114;g38707f6263b_3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07f6263b_3_98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146" name="Google Shape;146;g38707f6263b_3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707f6263b_3_10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175" name="Google Shape;175;g38707f6263b_3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707f6263b_3_142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398" cy="411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203" name="Google Shape;203;g38707f6263b_3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082e189a1_0_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228" name="Google Shape;228;g3e082e189a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707f6263b_3_188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258" name="Google Shape;258;g38707f6263b_3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707f6263b_3_28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297" name="Google Shape;297;g38707f6263b_3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6113cef81_0_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336" name="Google Shape;336;g3d6113cef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67" y="685799"/>
            <a:ext cx="4572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972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7462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4A1B3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6457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30948" y="4926413"/>
            <a:ext cx="913245" cy="216887"/>
          </a:xfrm>
          <a:custGeom>
            <a:avLst/>
            <a:gdLst/>
            <a:ahLst/>
            <a:cxnLst/>
            <a:rect l="l" t="t" r="r" b="b"/>
            <a:pathLst>
              <a:path w="2007869" h="476884" extrusionOk="0">
                <a:moveTo>
                  <a:pt x="2007436" y="0"/>
                </a:moveTo>
                <a:lnTo>
                  <a:pt x="0" y="0"/>
                </a:lnTo>
                <a:lnTo>
                  <a:pt x="0" y="476529"/>
                </a:lnTo>
                <a:lnTo>
                  <a:pt x="2007436" y="476529"/>
                </a:lnTo>
                <a:lnTo>
                  <a:pt x="2007436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5905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830447" y="4926413"/>
            <a:ext cx="915844" cy="216887"/>
          </a:xfrm>
          <a:custGeom>
            <a:avLst/>
            <a:gdLst/>
            <a:ahLst/>
            <a:cxnLst/>
            <a:rect l="l" t="t" r="r" b="b"/>
            <a:pathLst>
              <a:path w="2013585" h="476884" extrusionOk="0">
                <a:moveTo>
                  <a:pt x="2013111" y="0"/>
                </a:moveTo>
                <a:lnTo>
                  <a:pt x="0" y="0"/>
                </a:lnTo>
                <a:lnTo>
                  <a:pt x="0" y="476529"/>
                </a:lnTo>
                <a:lnTo>
                  <a:pt x="2013111" y="476529"/>
                </a:lnTo>
                <a:lnTo>
                  <a:pt x="2013111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5952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55" y="4926413"/>
            <a:ext cx="4572577" cy="216887"/>
          </a:xfrm>
          <a:custGeom>
            <a:avLst/>
            <a:gdLst/>
            <a:ahLst/>
            <a:cxnLst/>
            <a:rect l="l" t="t" r="r" b="b"/>
            <a:pathLst>
              <a:path w="10053320" h="476884" extrusionOk="0">
                <a:moveTo>
                  <a:pt x="2010613" y="0"/>
                </a:moveTo>
                <a:lnTo>
                  <a:pt x="0" y="0"/>
                </a:lnTo>
                <a:lnTo>
                  <a:pt x="0" y="476529"/>
                </a:lnTo>
                <a:lnTo>
                  <a:pt x="2010613" y="476529"/>
                </a:lnTo>
                <a:lnTo>
                  <a:pt x="2010613" y="0"/>
                </a:lnTo>
                <a:close/>
              </a:path>
              <a:path w="10053320" h="476884" extrusionOk="0">
                <a:moveTo>
                  <a:pt x="10053104" y="0"/>
                </a:moveTo>
                <a:lnTo>
                  <a:pt x="8042491" y="0"/>
                </a:lnTo>
                <a:lnTo>
                  <a:pt x="8042491" y="476529"/>
                </a:lnTo>
                <a:lnTo>
                  <a:pt x="10053104" y="476529"/>
                </a:lnTo>
                <a:lnTo>
                  <a:pt x="10053104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1967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37262"/>
            <a:ext cx="266002" cy="77398"/>
          </a:xfrm>
          <a:custGeom>
            <a:avLst/>
            <a:gdLst/>
            <a:ahLst/>
            <a:cxnLst/>
            <a:rect l="l" t="t" r="r" b="b"/>
            <a:pathLst>
              <a:path w="584835" h="170180" extrusionOk="0">
                <a:moveTo>
                  <a:pt x="584264" y="0"/>
                </a:moveTo>
                <a:lnTo>
                  <a:pt x="0" y="0"/>
                </a:lnTo>
                <a:lnTo>
                  <a:pt x="0" y="170120"/>
                </a:lnTo>
                <a:lnTo>
                  <a:pt x="584264" y="170120"/>
                </a:lnTo>
                <a:lnTo>
                  <a:pt x="584264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65742" y="437262"/>
            <a:ext cx="267446" cy="77398"/>
          </a:xfrm>
          <a:custGeom>
            <a:avLst/>
            <a:gdLst/>
            <a:ahLst/>
            <a:cxnLst/>
            <a:rect l="l" t="t" r="r" b="b"/>
            <a:pathLst>
              <a:path w="588010" h="170180" extrusionOk="0">
                <a:moveTo>
                  <a:pt x="587448" y="0"/>
                </a:moveTo>
                <a:lnTo>
                  <a:pt x="0" y="0"/>
                </a:lnTo>
                <a:lnTo>
                  <a:pt x="0" y="170120"/>
                </a:lnTo>
                <a:lnTo>
                  <a:pt x="587448" y="170120"/>
                </a:lnTo>
                <a:lnTo>
                  <a:pt x="587448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32933" y="437262"/>
            <a:ext cx="254160" cy="77398"/>
          </a:xfrm>
          <a:custGeom>
            <a:avLst/>
            <a:gdLst/>
            <a:ahLst/>
            <a:cxnLst/>
            <a:rect l="l" t="t" r="r" b="b"/>
            <a:pathLst>
              <a:path w="558800" h="170180" extrusionOk="0">
                <a:moveTo>
                  <a:pt x="558202" y="0"/>
                </a:moveTo>
                <a:lnTo>
                  <a:pt x="0" y="0"/>
                </a:lnTo>
                <a:lnTo>
                  <a:pt x="0" y="170120"/>
                </a:lnTo>
                <a:lnTo>
                  <a:pt x="558202" y="170120"/>
                </a:lnTo>
                <a:lnTo>
                  <a:pt x="558202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86822" y="437262"/>
            <a:ext cx="265424" cy="77398"/>
          </a:xfrm>
          <a:custGeom>
            <a:avLst/>
            <a:gdLst/>
            <a:ahLst/>
            <a:cxnLst/>
            <a:rect l="l" t="t" r="r" b="b"/>
            <a:pathLst>
              <a:path w="583564" h="170180" extrusionOk="0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052074" y="437262"/>
            <a:ext cx="265424" cy="77398"/>
          </a:xfrm>
          <a:custGeom>
            <a:avLst/>
            <a:gdLst/>
            <a:ahLst/>
            <a:cxnLst/>
            <a:rect l="l" t="t" r="r" b="b"/>
            <a:pathLst>
              <a:path w="583564" h="170180" extrusionOk="0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1961" cy="2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3059053" y="3161559"/>
            <a:ext cx="1527851" cy="1980868"/>
          </a:xfrm>
          <a:custGeom>
            <a:avLst/>
            <a:gdLst/>
            <a:ahLst/>
            <a:cxnLst/>
            <a:rect l="l" t="t" r="r" b="b"/>
            <a:pathLst>
              <a:path w="3359150" h="4355465" extrusionOk="0">
                <a:moveTo>
                  <a:pt x="3358683" y="0"/>
                </a:moveTo>
                <a:lnTo>
                  <a:pt x="0" y="0"/>
                </a:lnTo>
                <a:lnTo>
                  <a:pt x="0" y="4355448"/>
                </a:lnTo>
                <a:lnTo>
                  <a:pt x="3358683" y="4355448"/>
                </a:lnTo>
                <a:lnTo>
                  <a:pt x="3358683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31420" y="3161559"/>
            <a:ext cx="1527851" cy="1980868"/>
          </a:xfrm>
          <a:custGeom>
            <a:avLst/>
            <a:gdLst/>
            <a:ahLst/>
            <a:cxnLst/>
            <a:rect l="l" t="t" r="r" b="b"/>
            <a:pathLst>
              <a:path w="3359150" h="4355465" extrusionOk="0">
                <a:moveTo>
                  <a:pt x="3358672" y="0"/>
                </a:moveTo>
                <a:lnTo>
                  <a:pt x="0" y="0"/>
                </a:lnTo>
                <a:lnTo>
                  <a:pt x="0" y="4355448"/>
                </a:lnTo>
                <a:lnTo>
                  <a:pt x="3358672" y="4355448"/>
                </a:lnTo>
                <a:lnTo>
                  <a:pt x="3358672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ctrTitle"/>
          </p:nvPr>
        </p:nvSpPr>
        <p:spPr>
          <a:xfrm>
            <a:off x="394828" y="215485"/>
            <a:ext cx="2194913" cy="22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1961" cy="2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1961" cy="2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 1">
  <p:cSld name="Two Content (g3e4ab13f865_14_0)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20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 2">
  <p:cSld name="Two Content (g3e4ab13f865_21_0)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20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300" b="1" i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2100" y="210313"/>
            <a:ext cx="2321961" cy="2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300" b="1" i="0" u="none" strike="noStrike" cap="non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16375" rIns="16375" bIns="16375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9"/>
          <p:cNvGrpSpPr/>
          <p:nvPr/>
        </p:nvGrpSpPr>
        <p:grpSpPr>
          <a:xfrm>
            <a:off x="5510212" y="438"/>
            <a:ext cx="3633964" cy="5142453"/>
            <a:chOff x="12114814" y="963"/>
            <a:chExt cx="7989674" cy="11307047"/>
          </a:xfrm>
        </p:grpSpPr>
        <p:sp>
          <p:nvSpPr>
            <p:cNvPr id="74" name="Google Shape;74;p9"/>
            <p:cNvSpPr/>
            <p:nvPr/>
          </p:nvSpPr>
          <p:spPr>
            <a:xfrm>
              <a:off x="12114814" y="963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12114814" y="2829065"/>
              <a:ext cx="1997710" cy="2826385"/>
            </a:xfrm>
            <a:custGeom>
              <a:avLst/>
              <a:gdLst/>
              <a:ahLst/>
              <a:cxnLst/>
              <a:rect l="l" t="t" r="r" b="b"/>
              <a:pathLst>
                <a:path w="1997709" h="2826385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6175"/>
                  </a:lnTo>
                  <a:lnTo>
                    <a:pt x="1997321" y="2826175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2114814" y="5653325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12114814" y="8479490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14112145" y="963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14112145" y="2829065"/>
              <a:ext cx="1997710" cy="2826385"/>
            </a:xfrm>
            <a:custGeom>
              <a:avLst/>
              <a:gdLst/>
              <a:ahLst/>
              <a:cxnLst/>
              <a:rect l="l" t="t" r="r" b="b"/>
              <a:pathLst>
                <a:path w="1997709" h="2826385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6175"/>
                  </a:lnTo>
                  <a:lnTo>
                    <a:pt x="1997321" y="2826175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14112138" y="5653335"/>
              <a:ext cx="3994785" cy="5654675"/>
            </a:xfrm>
            <a:custGeom>
              <a:avLst/>
              <a:gdLst/>
              <a:ahLst/>
              <a:cxnLst/>
              <a:rect l="l" t="t" r="r" b="b"/>
              <a:pathLst>
                <a:path w="3994784" h="5654675" extrusionOk="0">
                  <a:moveTo>
                    <a:pt x="3994632" y="2826156"/>
                  </a:moveTo>
                  <a:lnTo>
                    <a:pt x="1997329" y="2826156"/>
                  </a:lnTo>
                  <a:lnTo>
                    <a:pt x="1997329" y="0"/>
                  </a:lnTo>
                  <a:lnTo>
                    <a:pt x="0" y="0"/>
                  </a:lnTo>
                  <a:lnTo>
                    <a:pt x="0" y="2828099"/>
                  </a:lnTo>
                  <a:lnTo>
                    <a:pt x="1997316" y="2828099"/>
                  </a:lnTo>
                  <a:lnTo>
                    <a:pt x="1997316" y="5654268"/>
                  </a:lnTo>
                  <a:lnTo>
                    <a:pt x="3994632" y="5654268"/>
                  </a:lnTo>
                  <a:lnTo>
                    <a:pt x="3994632" y="2826156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14112145" y="8479490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16109455" y="963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16109455" y="2829065"/>
              <a:ext cx="1997710" cy="2826385"/>
            </a:xfrm>
            <a:custGeom>
              <a:avLst/>
              <a:gdLst/>
              <a:ahLst/>
              <a:cxnLst/>
              <a:rect l="l" t="t" r="r" b="b"/>
              <a:pathLst>
                <a:path w="1997709" h="2826385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6175"/>
                  </a:lnTo>
                  <a:lnTo>
                    <a:pt x="1997321" y="2826175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16109455" y="5653325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18106778" y="963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18106778" y="2829065"/>
              <a:ext cx="1997710" cy="2826385"/>
            </a:xfrm>
            <a:custGeom>
              <a:avLst/>
              <a:gdLst/>
              <a:ahLst/>
              <a:cxnLst/>
              <a:rect l="l" t="t" r="r" b="b"/>
              <a:pathLst>
                <a:path w="1997709" h="2826385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6186"/>
                  </a:lnTo>
                  <a:lnTo>
                    <a:pt x="1997321" y="2826186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18106778" y="5653325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18106778" y="8479490"/>
              <a:ext cx="1997710" cy="2828290"/>
            </a:xfrm>
            <a:custGeom>
              <a:avLst/>
              <a:gdLst/>
              <a:ahLst/>
              <a:cxnLst/>
              <a:rect l="l" t="t" r="r" b="b"/>
              <a:pathLst>
                <a:path w="1997709" h="2828290" extrusionOk="0">
                  <a:moveTo>
                    <a:pt x="1997321" y="0"/>
                  </a:moveTo>
                  <a:lnTo>
                    <a:pt x="0" y="0"/>
                  </a:lnTo>
                  <a:lnTo>
                    <a:pt x="0" y="2828102"/>
                  </a:lnTo>
                  <a:lnTo>
                    <a:pt x="1997321" y="2828102"/>
                  </a:lnTo>
                  <a:lnTo>
                    <a:pt x="1997321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242011" y="2668158"/>
            <a:ext cx="3915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24550" rIns="16375" bIns="16375" anchor="t" anchorCtr="0">
            <a:spAutoFit/>
          </a:bodyPr>
          <a:lstStyle/>
          <a:p>
            <a:pPr marL="0" marR="0" lvl="0" indent="0" algn="l" rtl="0">
              <a:lnSpc>
                <a:spcPct val="1162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25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ПульсТок</a:t>
            </a:r>
            <a:endParaRPr sz="35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242012" y="4407649"/>
            <a:ext cx="3916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Система мониторинга энергопотребления с применением </a:t>
            </a:r>
            <a:r>
              <a:rPr lang="ru" sz="800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ML\DL</a:t>
            </a:r>
            <a:endParaRPr sz="17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Команда проекта • МГУ им. Н. П. Огарёва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4519" y="174924"/>
            <a:ext cx="953178" cy="7928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9"/>
          <p:cNvGrpSpPr/>
          <p:nvPr/>
        </p:nvGrpSpPr>
        <p:grpSpPr>
          <a:xfrm>
            <a:off x="906918" y="490105"/>
            <a:ext cx="766791" cy="66633"/>
            <a:chOff x="1993961" y="1077625"/>
            <a:chExt cx="1685876" cy="146510"/>
          </a:xfrm>
        </p:grpSpPr>
        <p:pic>
          <p:nvPicPr>
            <p:cNvPr id="93" name="Google Shape;93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93961" y="1080241"/>
              <a:ext cx="141158" cy="14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72266" y="1080241"/>
              <a:ext cx="123765" cy="141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9"/>
            <p:cNvSpPr/>
            <p:nvPr/>
          </p:nvSpPr>
          <p:spPr>
            <a:xfrm>
              <a:off x="2333193" y="1080547"/>
              <a:ext cx="122555" cy="140970"/>
            </a:xfrm>
            <a:custGeom>
              <a:avLst/>
              <a:gdLst/>
              <a:ahLst/>
              <a:cxnLst/>
              <a:rect l="l" t="t" r="r" b="b"/>
              <a:pathLst>
                <a:path w="122555" h="140969" extrusionOk="0">
                  <a:moveTo>
                    <a:pt x="122516" y="0"/>
                  </a:moveTo>
                  <a:lnTo>
                    <a:pt x="99479" y="0"/>
                  </a:lnTo>
                  <a:lnTo>
                    <a:pt x="99479" y="55880"/>
                  </a:lnTo>
                  <a:lnTo>
                    <a:pt x="23037" y="55880"/>
                  </a:lnTo>
                  <a:lnTo>
                    <a:pt x="23037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40970"/>
                  </a:lnTo>
                  <a:lnTo>
                    <a:pt x="23037" y="140970"/>
                  </a:lnTo>
                  <a:lnTo>
                    <a:pt x="23037" y="76200"/>
                  </a:lnTo>
                  <a:lnTo>
                    <a:pt x="99479" y="76200"/>
                  </a:lnTo>
                  <a:lnTo>
                    <a:pt x="99479" y="140970"/>
                  </a:lnTo>
                  <a:lnTo>
                    <a:pt x="122516" y="140970"/>
                  </a:lnTo>
                  <a:lnTo>
                    <a:pt x="122516" y="76200"/>
                  </a:lnTo>
                  <a:lnTo>
                    <a:pt x="122516" y="55880"/>
                  </a:lnTo>
                  <a:lnTo>
                    <a:pt x="122516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86063" y="1077625"/>
              <a:ext cx="149744" cy="1465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666031" y="1080238"/>
              <a:ext cx="115807" cy="14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809796" y="1080244"/>
              <a:ext cx="112048" cy="141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9"/>
            <p:cNvSpPr/>
            <p:nvPr/>
          </p:nvSpPr>
          <p:spPr>
            <a:xfrm>
              <a:off x="2948038" y="1080547"/>
              <a:ext cx="122555" cy="140970"/>
            </a:xfrm>
            <a:custGeom>
              <a:avLst/>
              <a:gdLst/>
              <a:ahLst/>
              <a:cxnLst/>
              <a:rect l="l" t="t" r="r" b="b"/>
              <a:pathLst>
                <a:path w="122555" h="140969" extrusionOk="0">
                  <a:moveTo>
                    <a:pt x="122516" y="0"/>
                  </a:moveTo>
                  <a:lnTo>
                    <a:pt x="99479" y="0"/>
                  </a:lnTo>
                  <a:lnTo>
                    <a:pt x="99479" y="55880"/>
                  </a:lnTo>
                  <a:lnTo>
                    <a:pt x="23050" y="55880"/>
                  </a:lnTo>
                  <a:lnTo>
                    <a:pt x="23050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40970"/>
                  </a:lnTo>
                  <a:lnTo>
                    <a:pt x="23050" y="140970"/>
                  </a:lnTo>
                  <a:lnTo>
                    <a:pt x="23050" y="76200"/>
                  </a:lnTo>
                  <a:lnTo>
                    <a:pt x="99479" y="76200"/>
                  </a:lnTo>
                  <a:lnTo>
                    <a:pt x="99479" y="140970"/>
                  </a:lnTo>
                  <a:lnTo>
                    <a:pt x="122516" y="140970"/>
                  </a:lnTo>
                  <a:lnTo>
                    <a:pt x="122516" y="76200"/>
                  </a:lnTo>
                  <a:lnTo>
                    <a:pt x="122516" y="55880"/>
                  </a:lnTo>
                  <a:lnTo>
                    <a:pt x="122516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094990" y="1079439"/>
              <a:ext cx="291047" cy="144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409954" y="1080241"/>
              <a:ext cx="123555" cy="14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56072" y="1080241"/>
              <a:ext cx="123765" cy="1412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9"/>
          <p:cNvGrpSpPr/>
          <p:nvPr/>
        </p:nvGrpSpPr>
        <p:grpSpPr>
          <a:xfrm>
            <a:off x="906918" y="600916"/>
            <a:ext cx="402037" cy="66637"/>
            <a:chOff x="1993961" y="1321274"/>
            <a:chExt cx="883924" cy="146519"/>
          </a:xfrm>
        </p:grpSpPr>
        <p:pic>
          <p:nvPicPr>
            <p:cNvPr id="104" name="Google Shape;104;p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993961" y="1323903"/>
              <a:ext cx="112048" cy="14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128352" y="1321284"/>
              <a:ext cx="149744" cy="1465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303991" y="1321274"/>
              <a:ext cx="120195" cy="146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444112" y="1321274"/>
              <a:ext cx="120195" cy="146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2593190" y="1323900"/>
              <a:ext cx="123776" cy="14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54120" y="1323900"/>
              <a:ext cx="123765" cy="141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97220" y="313928"/>
            <a:ext cx="474368" cy="52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850131" y="206963"/>
            <a:ext cx="1902673" cy="72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4572972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5487462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4A1B3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316457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230948" y="4926413"/>
            <a:ext cx="913580" cy="216982"/>
          </a:xfrm>
          <a:custGeom>
            <a:avLst/>
            <a:gdLst/>
            <a:ahLst/>
            <a:cxnLst/>
            <a:rect l="l" t="t" r="r" b="b"/>
            <a:pathLst>
              <a:path w="2007869" h="476884" extrusionOk="0">
                <a:moveTo>
                  <a:pt x="2007436" y="0"/>
                </a:moveTo>
                <a:lnTo>
                  <a:pt x="0" y="0"/>
                </a:lnTo>
                <a:lnTo>
                  <a:pt x="0" y="476529"/>
                </a:lnTo>
                <a:lnTo>
                  <a:pt x="2007436" y="476529"/>
                </a:lnTo>
                <a:lnTo>
                  <a:pt x="2007436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2745905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830447" y="4926413"/>
            <a:ext cx="916181" cy="216982"/>
          </a:xfrm>
          <a:custGeom>
            <a:avLst/>
            <a:gdLst/>
            <a:ahLst/>
            <a:cxnLst/>
            <a:rect l="l" t="t" r="r" b="b"/>
            <a:pathLst>
              <a:path w="2013585" h="476884" extrusionOk="0">
                <a:moveTo>
                  <a:pt x="2013111" y="0"/>
                </a:moveTo>
                <a:lnTo>
                  <a:pt x="0" y="0"/>
                </a:lnTo>
                <a:lnTo>
                  <a:pt x="0" y="476529"/>
                </a:lnTo>
                <a:lnTo>
                  <a:pt x="2013111" y="476529"/>
                </a:lnTo>
                <a:lnTo>
                  <a:pt x="2013111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915952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5" h="476884" extrusionOk="0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455" y="4926413"/>
            <a:ext cx="4574261" cy="216982"/>
          </a:xfrm>
          <a:custGeom>
            <a:avLst/>
            <a:gdLst/>
            <a:ahLst/>
            <a:cxnLst/>
            <a:rect l="l" t="t" r="r" b="b"/>
            <a:pathLst>
              <a:path w="10053320" h="476884" extrusionOk="0">
                <a:moveTo>
                  <a:pt x="2010613" y="0"/>
                </a:moveTo>
                <a:lnTo>
                  <a:pt x="0" y="0"/>
                </a:lnTo>
                <a:lnTo>
                  <a:pt x="0" y="476529"/>
                </a:lnTo>
                <a:lnTo>
                  <a:pt x="2010613" y="476529"/>
                </a:lnTo>
                <a:lnTo>
                  <a:pt x="2010613" y="0"/>
                </a:lnTo>
                <a:close/>
              </a:path>
              <a:path w="10053320" h="476884" extrusionOk="0">
                <a:moveTo>
                  <a:pt x="10053104" y="0"/>
                </a:moveTo>
                <a:lnTo>
                  <a:pt x="8042491" y="0"/>
                </a:lnTo>
                <a:lnTo>
                  <a:pt x="8042491" y="476529"/>
                </a:lnTo>
                <a:lnTo>
                  <a:pt x="10053104" y="476529"/>
                </a:lnTo>
                <a:lnTo>
                  <a:pt x="10053104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401967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0" y="437262"/>
            <a:ext cx="266100" cy="77432"/>
          </a:xfrm>
          <a:custGeom>
            <a:avLst/>
            <a:gdLst/>
            <a:ahLst/>
            <a:cxnLst/>
            <a:rect l="l" t="t" r="r" b="b"/>
            <a:pathLst>
              <a:path w="584835" h="170180" extrusionOk="0">
                <a:moveTo>
                  <a:pt x="584264" y="0"/>
                </a:moveTo>
                <a:lnTo>
                  <a:pt x="0" y="0"/>
                </a:lnTo>
                <a:lnTo>
                  <a:pt x="0" y="170120"/>
                </a:lnTo>
                <a:lnTo>
                  <a:pt x="584264" y="170120"/>
                </a:lnTo>
                <a:lnTo>
                  <a:pt x="584264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265742" y="437262"/>
            <a:ext cx="267545" cy="77432"/>
          </a:xfrm>
          <a:custGeom>
            <a:avLst/>
            <a:gdLst/>
            <a:ahLst/>
            <a:cxnLst/>
            <a:rect l="l" t="t" r="r" b="b"/>
            <a:pathLst>
              <a:path w="588010" h="170180" extrusionOk="0">
                <a:moveTo>
                  <a:pt x="587448" y="0"/>
                </a:moveTo>
                <a:lnTo>
                  <a:pt x="0" y="0"/>
                </a:lnTo>
                <a:lnTo>
                  <a:pt x="0" y="170120"/>
                </a:lnTo>
                <a:lnTo>
                  <a:pt x="587448" y="170120"/>
                </a:lnTo>
                <a:lnTo>
                  <a:pt x="587448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532933" y="437262"/>
            <a:ext cx="254254" cy="77432"/>
          </a:xfrm>
          <a:custGeom>
            <a:avLst/>
            <a:gdLst/>
            <a:ahLst/>
            <a:cxnLst/>
            <a:rect l="l" t="t" r="r" b="b"/>
            <a:pathLst>
              <a:path w="558800" h="170180" extrusionOk="0">
                <a:moveTo>
                  <a:pt x="558202" y="0"/>
                </a:moveTo>
                <a:lnTo>
                  <a:pt x="0" y="0"/>
                </a:lnTo>
                <a:lnTo>
                  <a:pt x="0" y="170120"/>
                </a:lnTo>
                <a:lnTo>
                  <a:pt x="558202" y="170120"/>
                </a:lnTo>
                <a:lnTo>
                  <a:pt x="558202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86822" y="437262"/>
            <a:ext cx="265522" cy="77432"/>
          </a:xfrm>
          <a:custGeom>
            <a:avLst/>
            <a:gdLst/>
            <a:ahLst/>
            <a:cxnLst/>
            <a:rect l="l" t="t" r="r" b="b"/>
            <a:pathLst>
              <a:path w="583564" h="170180" extrusionOk="0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052074" y="437262"/>
            <a:ext cx="265522" cy="77432"/>
          </a:xfrm>
          <a:custGeom>
            <a:avLst/>
            <a:gdLst/>
            <a:ahLst/>
            <a:cxnLst/>
            <a:rect l="l" t="t" r="r" b="b"/>
            <a:pathLst>
              <a:path w="583564" h="170180" extrusionOk="0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332142" y="630591"/>
            <a:ext cx="2781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62675" rIns="16375" bIns="16375" anchor="t" anchorCtr="0">
            <a:spAutoFit/>
          </a:bodyPr>
          <a:lstStyle/>
          <a:p>
            <a:pPr marL="0" marR="0" lvl="0" indent="0" algn="l" rtl="0">
              <a:lnSpc>
                <a:spcPct val="104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ПРОБЛЕМА</a:t>
            </a:r>
            <a:endParaRPr sz="27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332142" y="1238250"/>
            <a:ext cx="8372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Датацентры не знают, что сломается завтра</a:t>
            </a:r>
            <a:endParaRPr sz="2000" b="1">
              <a:solidFill>
                <a:srgbClr val="1A1A1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2" name="Google Shape;132;p10"/>
          <p:cNvGrpSpPr/>
          <p:nvPr/>
        </p:nvGrpSpPr>
        <p:grpSpPr>
          <a:xfrm>
            <a:off x="323850" y="1762125"/>
            <a:ext cx="4095900" cy="1047900"/>
            <a:chOff x="323850" y="1762125"/>
            <a:chExt cx="4095900" cy="1047900"/>
          </a:xfrm>
        </p:grpSpPr>
        <p:sp>
          <p:nvSpPr>
            <p:cNvPr id="133" name="Google Shape;133;p10"/>
            <p:cNvSpPr/>
            <p:nvPr/>
          </p:nvSpPr>
          <p:spPr>
            <a:xfrm>
              <a:off x="323850" y="1762125"/>
              <a:ext cx="4095900" cy="10479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9525" cap="flat" cmpd="sng">
              <a:solidFill>
                <a:srgbClr val="FD49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428625" y="1857375"/>
              <a:ext cx="3886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FD493D"/>
                  </a:solidFill>
                  <a:latin typeface="Arial"/>
                  <a:ea typeface="Arial"/>
                  <a:cs typeface="Arial"/>
                  <a:sym typeface="Arial"/>
                </a:rPr>
                <a:t>Реактивность</a:t>
              </a:r>
              <a:endParaRPr sz="1300" b="1">
                <a:solidFill>
                  <a:srgbClr val="FD49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Стандартный мониторинг срабатывает уже после аварии — не до него</a:t>
              </a:r>
              <a:endParaRPr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0"/>
          <p:cNvGrpSpPr/>
          <p:nvPr/>
        </p:nvGrpSpPr>
        <p:grpSpPr>
          <a:xfrm>
            <a:off x="4619625" y="1762125"/>
            <a:ext cx="4095900" cy="1047900"/>
            <a:chOff x="4619625" y="1762125"/>
            <a:chExt cx="4095900" cy="1047900"/>
          </a:xfrm>
        </p:grpSpPr>
        <p:sp>
          <p:nvSpPr>
            <p:cNvPr id="136" name="Google Shape;136;p10"/>
            <p:cNvSpPr/>
            <p:nvPr/>
          </p:nvSpPr>
          <p:spPr>
            <a:xfrm>
              <a:off x="4619625" y="1762125"/>
              <a:ext cx="4095900" cy="10479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9525" cap="flat" cmpd="sng">
              <a:solidFill>
                <a:srgbClr val="FD49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4724400" y="1857375"/>
              <a:ext cx="3886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FD493D"/>
                  </a:solidFill>
                  <a:latin typeface="Arial"/>
                  <a:ea typeface="Arial"/>
                  <a:cs typeface="Arial"/>
                  <a:sym typeface="Arial"/>
                </a:rPr>
                <a:t>Скрытая деградация</a:t>
              </a:r>
              <a:endParaRPr sz="1300" b="1">
                <a:solidFill>
                  <a:srgbClr val="FD49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Блок питания «умирает» неделями, ток меняется — никто не видит</a:t>
              </a:r>
              <a:endParaRPr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0"/>
          <p:cNvGrpSpPr/>
          <p:nvPr/>
        </p:nvGrpSpPr>
        <p:grpSpPr>
          <a:xfrm>
            <a:off x="323850" y="2952750"/>
            <a:ext cx="4095900" cy="1047900"/>
            <a:chOff x="323850" y="2952750"/>
            <a:chExt cx="4095900" cy="1047900"/>
          </a:xfrm>
        </p:grpSpPr>
        <p:sp>
          <p:nvSpPr>
            <p:cNvPr id="139" name="Google Shape;139;p10"/>
            <p:cNvSpPr/>
            <p:nvPr/>
          </p:nvSpPr>
          <p:spPr>
            <a:xfrm>
              <a:off x="323850" y="2952750"/>
              <a:ext cx="4095900" cy="10479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9525" cap="flat" cmpd="sng">
              <a:solidFill>
                <a:srgbClr val="FD49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0"/>
            <p:cNvSpPr txBox="1"/>
            <p:nvPr/>
          </p:nvSpPr>
          <p:spPr>
            <a:xfrm>
              <a:off x="428625" y="3048000"/>
              <a:ext cx="3886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FD493D"/>
                  </a:solidFill>
                  <a:latin typeface="Arial"/>
                  <a:ea typeface="Arial"/>
                  <a:cs typeface="Arial"/>
                  <a:sym typeface="Arial"/>
                </a:rPr>
                <a:t>Цена ошибки</a:t>
              </a:r>
              <a:endParaRPr sz="1300" b="1">
                <a:solidFill>
                  <a:srgbClr val="FD49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Простой датацентра — от 1 000 000 руб. в час</a:t>
              </a:r>
              <a:endParaRPr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0"/>
          <p:cNvGrpSpPr/>
          <p:nvPr/>
        </p:nvGrpSpPr>
        <p:grpSpPr>
          <a:xfrm>
            <a:off x="4619625" y="2952750"/>
            <a:ext cx="4095900" cy="1047900"/>
            <a:chOff x="4619625" y="2952750"/>
            <a:chExt cx="4095900" cy="1047900"/>
          </a:xfrm>
        </p:grpSpPr>
        <p:sp>
          <p:nvSpPr>
            <p:cNvPr id="142" name="Google Shape;142;p10"/>
            <p:cNvSpPr/>
            <p:nvPr/>
          </p:nvSpPr>
          <p:spPr>
            <a:xfrm>
              <a:off x="4619625" y="2952750"/>
              <a:ext cx="4095900" cy="10479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9525" cap="flat" cmpd="sng">
              <a:solidFill>
                <a:srgbClr val="FD49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0"/>
            <p:cNvSpPr txBox="1"/>
            <p:nvPr/>
          </p:nvSpPr>
          <p:spPr>
            <a:xfrm>
              <a:off x="4724400" y="3048000"/>
              <a:ext cx="3886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1">
                  <a:solidFill>
                    <a:srgbClr val="FD493D"/>
                  </a:solidFill>
                  <a:latin typeface="Arial"/>
                  <a:ea typeface="Arial"/>
                  <a:cs typeface="Arial"/>
                  <a:sym typeface="Arial"/>
                </a:rPr>
                <a:t>Импортозависимость</a:t>
              </a:r>
              <a:endParaRPr sz="1300" b="1">
                <a:solidFill>
                  <a:srgbClr val="FD49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Западные платформы ушли из РФ. Российских аналогов нет.</a:t>
              </a:r>
              <a:endParaRPr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1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49" name="Google Shape;149;p11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 txBox="1"/>
            <p:nvPr/>
          </p:nvSpPr>
          <p:spPr>
            <a:xfrm>
              <a:off x="381000" y="19050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 b="1">
                  <a:solidFill>
                    <a:srgbClr val="8F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РЕШЕНИЕ</a:t>
              </a:r>
              <a:endParaRPr sz="28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51" name="Google Shape;151;p11"/>
          <p:cNvGrpSpPr/>
          <p:nvPr/>
        </p:nvGrpSpPr>
        <p:grpSpPr>
          <a:xfrm>
            <a:off x="190500" y="952500"/>
            <a:ext cx="8763000" cy="571500"/>
            <a:chOff x="190500" y="952500"/>
            <a:chExt cx="8763000" cy="571500"/>
          </a:xfrm>
        </p:grpSpPr>
        <p:sp>
          <p:nvSpPr>
            <p:cNvPr id="152" name="Google Shape;152;p11"/>
            <p:cNvSpPr/>
            <p:nvPr/>
          </p:nvSpPr>
          <p:spPr>
            <a:xfrm>
              <a:off x="190500" y="952500"/>
              <a:ext cx="8763000" cy="571500"/>
            </a:xfrm>
            <a:prstGeom prst="roundRect">
              <a:avLst>
                <a:gd name="adj" fmla="val 16666"/>
              </a:avLst>
            </a:prstGeom>
            <a:solidFill>
              <a:srgbClr val="8F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 txBox="1"/>
            <p:nvPr/>
          </p:nvSpPr>
          <p:spPr>
            <a:xfrm>
              <a:off x="381000" y="9525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ПульсТок предупреждает об аварии за 2–7 дней</a:t>
              </a:r>
              <a:endPara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54" name="Google Shape;154;p11"/>
          <p:cNvGrpSpPr/>
          <p:nvPr/>
        </p:nvGrpSpPr>
        <p:grpSpPr>
          <a:xfrm>
            <a:off x="381000" y="1714500"/>
            <a:ext cx="8382150" cy="2047875"/>
            <a:chOff x="381000" y="1714500"/>
            <a:chExt cx="8382150" cy="2047875"/>
          </a:xfrm>
        </p:grpSpPr>
        <p:sp>
          <p:nvSpPr>
            <p:cNvPr id="155" name="Google Shape;155;p11"/>
            <p:cNvSpPr/>
            <p:nvPr/>
          </p:nvSpPr>
          <p:spPr>
            <a:xfrm>
              <a:off x="381000" y="171450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3E5F5"/>
            </a:solidFill>
            <a:ln w="9525" cap="flat" cmpd="sng">
              <a:solidFill>
                <a:srgbClr val="8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 txBox="1"/>
            <p:nvPr/>
          </p:nvSpPr>
          <p:spPr>
            <a:xfrm>
              <a:off x="571500" y="17145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solidFill>
                    <a:srgbClr val="8F00FF"/>
                  </a:solidFill>
                  <a:latin typeface="Arial"/>
                  <a:ea typeface="Arial"/>
                  <a:cs typeface="Arial"/>
                  <a:sym typeface="Arial"/>
                </a:rPr>
                <a:t>Упреждающий анализ</a:t>
              </a:r>
              <a:endParaRPr sz="1100" b="1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Анализирует потребление тока и находит признаки деградации до того, как сработал порог</a:t>
              </a:r>
              <a:endPara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4667250" y="171450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3E5F5"/>
            </a:solidFill>
            <a:ln w="9525" cap="flat" cmpd="sng">
              <a:solidFill>
                <a:srgbClr val="8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 txBox="1"/>
            <p:nvPr/>
          </p:nvSpPr>
          <p:spPr>
            <a:xfrm>
              <a:off x="4857750" y="17145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solidFill>
                    <a:srgbClr val="8F00FF"/>
                  </a:solidFill>
                  <a:latin typeface="Arial"/>
                  <a:ea typeface="Arial"/>
                  <a:cs typeface="Arial"/>
                  <a:sym typeface="Arial"/>
                </a:rPr>
                <a:t>Health Score</a:t>
              </a:r>
              <a:endParaRPr sz="1100" b="1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Для каждого устройства — одна понятная цифра вместо сотни разрозненных метрик</a:t>
              </a:r>
              <a:endPara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381000" y="2809875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3E5F5"/>
            </a:solidFill>
            <a:ln w="9525" cap="flat" cmpd="sng">
              <a:solidFill>
                <a:srgbClr val="8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1"/>
            <p:cNvSpPr txBox="1"/>
            <p:nvPr/>
          </p:nvSpPr>
          <p:spPr>
            <a:xfrm>
              <a:off x="571500" y="2809875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solidFill>
                    <a:srgbClr val="8F00FF"/>
                  </a:solidFill>
                  <a:latin typeface="Arial"/>
                  <a:ea typeface="Arial"/>
                  <a:cs typeface="Arial"/>
                  <a:sym typeface="Arial"/>
                </a:rPr>
                <a:t>Конкретные инсайты</a:t>
              </a:r>
              <a:endParaRPr sz="1100" b="1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«Сервер №7 — отказ через 3 дня, причина: потребление сверх нормы»</a:t>
              </a:r>
              <a:endPara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4667250" y="2809875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3E5F5"/>
            </a:solidFill>
            <a:ln w="9525" cap="flat" cmpd="sng">
              <a:solidFill>
                <a:srgbClr val="8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1"/>
            <p:cNvSpPr txBox="1"/>
            <p:nvPr/>
          </p:nvSpPr>
          <p:spPr>
            <a:xfrm>
              <a:off x="4857750" y="2809875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solidFill>
                    <a:srgbClr val="8F00FF"/>
                  </a:solidFill>
                  <a:latin typeface="Arial"/>
                  <a:ea typeface="Arial"/>
                  <a:cs typeface="Arial"/>
                  <a:sym typeface="Arial"/>
                </a:rPr>
                <a:t>Безопасность и Стек</a:t>
              </a:r>
              <a:endParaRPr sz="1100" b="1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Российский стек, обработка данных внутри закрытого периметра компании</a:t>
              </a:r>
              <a:endPara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1"/>
          <p:cNvGrpSpPr/>
          <p:nvPr/>
        </p:nvGrpSpPr>
        <p:grpSpPr>
          <a:xfrm>
            <a:off x="0" y="4000500"/>
            <a:ext cx="9144000" cy="571500"/>
            <a:chOff x="0" y="4000500"/>
            <a:chExt cx="9144000" cy="571500"/>
          </a:xfrm>
        </p:grpSpPr>
        <p:sp>
          <p:nvSpPr>
            <p:cNvPr id="164" name="Google Shape;164;p11"/>
            <p:cNvSpPr/>
            <p:nvPr/>
          </p:nvSpPr>
          <p:spPr>
            <a:xfrm>
              <a:off x="0" y="4000500"/>
              <a:ext cx="9144000" cy="5715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1"/>
            <p:cNvSpPr txBox="1"/>
            <p:nvPr/>
          </p:nvSpPr>
          <p:spPr>
            <a:xfrm>
              <a:off x="381000" y="40005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1">
                  <a:solidFill>
                    <a:srgbClr val="2E7D3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Окупаемость для клиента: 3–6 месяцев</a:t>
              </a:r>
              <a:endParaRPr sz="1600" b="1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66" name="Google Shape;166;p11"/>
          <p:cNvGrpSpPr/>
          <p:nvPr/>
        </p:nvGrpSpPr>
        <p:grpSpPr>
          <a:xfrm>
            <a:off x="1429" y="4926425"/>
            <a:ext cx="9142714" cy="216900"/>
            <a:chOff x="1429" y="4926425"/>
            <a:chExt cx="9142714" cy="216900"/>
          </a:xfrm>
        </p:grpSpPr>
        <p:sp>
          <p:nvSpPr>
            <p:cNvPr id="167" name="Google Shape;167;p11"/>
            <p:cNvSpPr/>
            <p:nvPr/>
          </p:nvSpPr>
          <p:spPr>
            <a:xfrm>
              <a:off x="1429" y="4926425"/>
              <a:ext cx="4572600" cy="216900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4574000" y="4926425"/>
              <a:ext cx="914700" cy="216900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5488686" y="4926425"/>
              <a:ext cx="914700" cy="216900"/>
            </a:xfrm>
            <a:prstGeom prst="rect">
              <a:avLst/>
            </a:prstGeom>
            <a:solidFill>
              <a:srgbClr val="F4A1B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403372" y="4926425"/>
              <a:ext cx="914700" cy="216900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7318058" y="4926425"/>
              <a:ext cx="914700" cy="216900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8232743" y="4926425"/>
              <a:ext cx="911400" cy="216900"/>
            </a:xfrm>
            <a:prstGeom prst="rect">
              <a:avLst/>
            </a:prstGeom>
            <a:solidFill>
              <a:srgbClr val="8F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2"/>
          <p:cNvGrpSpPr/>
          <p:nvPr/>
        </p:nvGrpSpPr>
        <p:grpSpPr>
          <a:xfrm>
            <a:off x="8076" y="437256"/>
            <a:ext cx="2006769" cy="77398"/>
            <a:chOff x="17758" y="961426"/>
            <a:chExt cx="4412421" cy="170180"/>
          </a:xfrm>
        </p:grpSpPr>
        <p:sp>
          <p:nvSpPr>
            <p:cNvPr id="178" name="Google Shape;178;p12"/>
            <p:cNvSpPr/>
            <p:nvPr/>
          </p:nvSpPr>
          <p:spPr>
            <a:xfrm>
              <a:off x="1775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605206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1192654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1750857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2334044" y="961426"/>
              <a:ext cx="2096135" cy="170180"/>
            </a:xfrm>
            <a:custGeom>
              <a:avLst/>
              <a:gdLst/>
              <a:ahLst/>
              <a:cxnLst/>
              <a:rect l="l" t="t" r="r" b="b"/>
              <a:pathLst>
                <a:path w="2096135" h="170180" extrusionOk="0">
                  <a:moveTo>
                    <a:pt x="209575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2095758" y="170120"/>
                  </a:lnTo>
                  <a:lnTo>
                    <a:pt x="2095758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12"/>
          <p:cNvGrpSpPr/>
          <p:nvPr/>
        </p:nvGrpSpPr>
        <p:grpSpPr>
          <a:xfrm>
            <a:off x="4582163" y="4926409"/>
            <a:ext cx="1829052" cy="216887"/>
            <a:chOff x="10075117" y="10832026"/>
            <a:chExt cx="4021663" cy="476884"/>
          </a:xfrm>
        </p:grpSpPr>
        <p:sp>
          <p:nvSpPr>
            <p:cNvPr id="184" name="Google Shape;184;p12"/>
            <p:cNvSpPr/>
            <p:nvPr/>
          </p:nvSpPr>
          <p:spPr>
            <a:xfrm>
              <a:off x="100751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12085736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2"/>
          <p:cNvGrpSpPr/>
          <p:nvPr/>
        </p:nvGrpSpPr>
        <p:grpSpPr>
          <a:xfrm>
            <a:off x="7325456" y="4926409"/>
            <a:ext cx="1818074" cy="216887"/>
            <a:chOff x="16106985" y="10832026"/>
            <a:chExt cx="3997524" cy="476884"/>
          </a:xfrm>
        </p:grpSpPr>
        <p:sp>
          <p:nvSpPr>
            <p:cNvPr id="187" name="Google Shape;187;p12"/>
            <p:cNvSpPr/>
            <p:nvPr/>
          </p:nvSpPr>
          <p:spPr>
            <a:xfrm>
              <a:off x="16106985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18117594" y="10832026"/>
              <a:ext cx="1986915" cy="476884"/>
            </a:xfrm>
            <a:custGeom>
              <a:avLst/>
              <a:gdLst/>
              <a:ahLst/>
              <a:cxnLst/>
              <a:rect l="l" t="t" r="r" b="b"/>
              <a:pathLst>
                <a:path w="1986915" h="476884" extrusionOk="0">
                  <a:moveTo>
                    <a:pt x="1986494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1986494" y="476529"/>
                  </a:lnTo>
                  <a:lnTo>
                    <a:pt x="1986494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12"/>
          <p:cNvGrpSpPr/>
          <p:nvPr/>
        </p:nvGrpSpPr>
        <p:grpSpPr>
          <a:xfrm>
            <a:off x="10980" y="4926409"/>
            <a:ext cx="4572250" cy="216887"/>
            <a:chOff x="24142" y="10832026"/>
            <a:chExt cx="10053320" cy="476884"/>
          </a:xfrm>
        </p:grpSpPr>
        <p:sp>
          <p:nvSpPr>
            <p:cNvPr id="190" name="Google Shape;190;p12"/>
            <p:cNvSpPr/>
            <p:nvPr/>
          </p:nvSpPr>
          <p:spPr>
            <a:xfrm>
              <a:off x="605811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4045384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1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11" y="476529"/>
                  </a:lnTo>
                  <a:lnTo>
                    <a:pt x="201311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2034775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24142" y="10832026"/>
              <a:ext cx="10053320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091" y="0"/>
                  </a:moveTo>
                  <a:lnTo>
                    <a:pt x="8042478" y="0"/>
                  </a:lnTo>
                  <a:lnTo>
                    <a:pt x="8042478" y="476529"/>
                  </a:lnTo>
                  <a:lnTo>
                    <a:pt x="10053091" y="476529"/>
                  </a:lnTo>
                  <a:lnTo>
                    <a:pt x="10053091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12"/>
          <p:cNvSpPr/>
          <p:nvPr/>
        </p:nvSpPr>
        <p:spPr>
          <a:xfrm>
            <a:off x="6411486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403065" y="681175"/>
            <a:ext cx="83943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18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ТЕХНОЛОГИЧЕСКОЕ ЯДРО</a:t>
            </a:r>
            <a:endParaRPr sz="1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 l="942" r="942"/>
          <a:stretch/>
        </p:blipFill>
        <p:spPr>
          <a:xfrm>
            <a:off x="3048000" y="1524000"/>
            <a:ext cx="3048000" cy="30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2"/>
          <p:cNvGrpSpPr/>
          <p:nvPr/>
        </p:nvGrpSpPr>
        <p:grpSpPr>
          <a:xfrm>
            <a:off x="571500" y="2000250"/>
            <a:ext cx="2095500" cy="1714500"/>
            <a:chOff x="571500" y="2000250"/>
            <a:chExt cx="2095500" cy="1714500"/>
          </a:xfrm>
        </p:grpSpPr>
        <p:sp>
          <p:nvSpPr>
            <p:cNvPr id="198" name="Google Shape;198;p12"/>
            <p:cNvSpPr/>
            <p:nvPr/>
          </p:nvSpPr>
          <p:spPr>
            <a:xfrm>
              <a:off x="571500" y="2000250"/>
              <a:ext cx="2095500" cy="1714500"/>
            </a:xfrm>
            <a:prstGeom prst="roundRect">
              <a:avLst>
                <a:gd name="adj" fmla="val 8333"/>
              </a:avLst>
            </a:prstGeom>
            <a:solidFill>
              <a:srgbClr val="8F00FF">
                <a:alpha val="10000"/>
              </a:srgbClr>
            </a:solidFill>
            <a:ln w="9525" cap="flat" cmpd="sng">
              <a:solidFill>
                <a:srgbClr val="8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 txBox="1"/>
            <p:nvPr/>
          </p:nvSpPr>
          <p:spPr>
            <a:xfrm>
              <a:off x="666750" y="209550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1">
                  <a:solidFill>
                    <a:srgbClr val="8F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ГОТОВЫ К ХАОСУ?</a:t>
              </a:r>
              <a:endParaRPr sz="16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1A1A1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Запустите </a:t>
              </a:r>
              <a:r>
                <a:rPr lang="ru" sz="1100" b="1">
                  <a:solidFill>
                    <a:srgbClr val="1A1A1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стресс-тест</a:t>
              </a:r>
              <a:r>
                <a:rPr lang="ru" sz="1100">
                  <a:solidFill>
                    <a:srgbClr val="1A1A1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прямо сейчас. Проверьте, выдержит ли тестовая инфраструктура.</a:t>
              </a:r>
              <a:endParaRPr sz="1100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00" name="Google Shape;200;p12"/>
          <p:cNvSpPr txBox="1"/>
          <p:nvPr/>
        </p:nvSpPr>
        <p:spPr>
          <a:xfrm>
            <a:off x="3048000" y="4619625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СКАНИРУЙТЕ ДЛЯ ТЕСТА</a:t>
            </a:r>
            <a:endParaRPr sz="1200" b="1">
              <a:solidFill>
                <a:srgbClr val="8F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3"/>
          <p:cNvGrpSpPr/>
          <p:nvPr/>
        </p:nvGrpSpPr>
        <p:grpSpPr>
          <a:xfrm>
            <a:off x="0" y="437257"/>
            <a:ext cx="2646935" cy="77403"/>
            <a:chOff x="0" y="961426"/>
            <a:chExt cx="5819580" cy="170190"/>
          </a:xfrm>
        </p:grpSpPr>
        <p:sp>
          <p:nvSpPr>
            <p:cNvPr id="206" name="Google Shape;206;p13"/>
            <p:cNvSpPr/>
            <p:nvPr/>
          </p:nvSpPr>
          <p:spPr>
            <a:xfrm>
              <a:off x="0" y="96143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37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37" y="170120"/>
                  </a:lnTo>
                  <a:lnTo>
                    <a:pt x="587437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1733099" y="961426"/>
              <a:ext cx="583565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13"/>
          <p:cNvGrpSpPr/>
          <p:nvPr/>
        </p:nvGrpSpPr>
        <p:grpSpPr>
          <a:xfrm>
            <a:off x="4574419" y="4926413"/>
            <a:ext cx="1829179" cy="216887"/>
            <a:chOff x="10057369" y="10832026"/>
            <a:chExt cx="4021653" cy="476884"/>
          </a:xfrm>
        </p:grpSpPr>
        <p:sp>
          <p:nvSpPr>
            <p:cNvPr id="212" name="Google Shape;212;p13"/>
            <p:cNvSpPr/>
            <p:nvPr/>
          </p:nvSpPr>
          <p:spPr>
            <a:xfrm>
              <a:off x="1005736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1206797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13"/>
          <p:cNvGrpSpPr/>
          <p:nvPr/>
        </p:nvGrpSpPr>
        <p:grpSpPr>
          <a:xfrm>
            <a:off x="7317900" y="4926413"/>
            <a:ext cx="1826295" cy="216887"/>
            <a:chOff x="16089216" y="10832026"/>
            <a:chExt cx="4015313" cy="476884"/>
          </a:xfrm>
        </p:grpSpPr>
        <p:sp>
          <p:nvSpPr>
            <p:cNvPr id="215" name="Google Shape;215;p13"/>
            <p:cNvSpPr/>
            <p:nvPr/>
          </p:nvSpPr>
          <p:spPr>
            <a:xfrm>
              <a:off x="16089216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18099835" y="10832026"/>
              <a:ext cx="2004694" cy="476884"/>
            </a:xfrm>
            <a:custGeom>
              <a:avLst/>
              <a:gdLst/>
              <a:ahLst/>
              <a:cxnLst/>
              <a:rect l="l" t="t" r="r" b="b"/>
              <a:pathLst>
                <a:path w="2004694" h="476884" extrusionOk="0">
                  <a:moveTo>
                    <a:pt x="200426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04263" y="476529"/>
                  </a:lnTo>
                  <a:lnTo>
                    <a:pt x="2004263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13"/>
          <p:cNvGrpSpPr/>
          <p:nvPr/>
        </p:nvGrpSpPr>
        <p:grpSpPr>
          <a:xfrm>
            <a:off x="2900" y="4926413"/>
            <a:ext cx="4572577" cy="216887"/>
            <a:chOff x="6375" y="10832026"/>
            <a:chExt cx="10053319" cy="476884"/>
          </a:xfrm>
        </p:grpSpPr>
        <p:sp>
          <p:nvSpPr>
            <p:cNvPr id="218" name="Google Shape;218;p13"/>
            <p:cNvSpPr/>
            <p:nvPr/>
          </p:nvSpPr>
          <p:spPr>
            <a:xfrm>
              <a:off x="604034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4027625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0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01" y="476529"/>
                  </a:lnTo>
                  <a:lnTo>
                    <a:pt x="201310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20170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6375" y="10832026"/>
              <a:ext cx="10053319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117" y="0"/>
                  </a:moveTo>
                  <a:lnTo>
                    <a:pt x="8042491" y="0"/>
                  </a:lnTo>
                  <a:lnTo>
                    <a:pt x="8042491" y="476529"/>
                  </a:lnTo>
                  <a:lnTo>
                    <a:pt x="10053117" y="476529"/>
                  </a:lnTo>
                  <a:lnTo>
                    <a:pt x="10053117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13"/>
          <p:cNvSpPr/>
          <p:nvPr/>
        </p:nvSpPr>
        <p:spPr>
          <a:xfrm>
            <a:off x="6403414" y="4926413"/>
            <a:ext cx="914689" cy="216887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395007" y="681165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КОНКУРЕНТЫ И АНАЛОГИ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95000" y="1202486"/>
            <a:ext cx="81627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8175" rIns="16375" bIns="8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1200" b="0" i="0" u="none" strike="noStrike" cap="non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Ключевые сравниваемые параметры: способ сбора данных, наличие ML-аналитики, стоимость внедрения и локализация решения.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13"/>
          <p:cNvGraphicFramePr/>
          <p:nvPr/>
        </p:nvGraphicFramePr>
        <p:xfrm>
          <a:off x="401058" y="1623371"/>
          <a:ext cx="8341900" cy="3241232"/>
        </p:xfrm>
        <a:graphic>
          <a:graphicData uri="http://schemas.openxmlformats.org/drawingml/2006/table">
            <a:tbl>
              <a:tblPr firstRow="1" bandRow="1">
                <a:noFill/>
                <a:tableStyleId>{67F48F62-A5C9-4509-A380-F99C4D51E0FF}</a:tableStyleId>
              </a:tblPr>
              <a:tblGrid>
                <a:gridCol w="119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1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Характеристики продукта</a:t>
                      </a:r>
                      <a:endParaRPr sz="1000" u="none" strike="noStrike" cap="none"/>
                    </a:p>
                  </a:txBody>
                  <a:tcPr marL="19650" marR="13100" marT="13100" marB="8175">
                    <a:lnL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876BA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PulseTok (наша разработка)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Schneider EcoStruxure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Siemens SIMATIC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Ujin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Smart DCIM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Zabbix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Сбор данных</a:t>
                      </a:r>
                      <a:endParaRPr sz="1000" u="none" strike="noStrike" cap="none"/>
                    </a:p>
                  </a:txBody>
                  <a:tcPr marL="19650" marR="13100" marT="13100" marB="817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6E1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ваши датчики + логи по API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BMS-инфраструктура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крупные инсталляции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BMS / умный дом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Modbus, SNMP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ручная настройка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ML / ИИ - </a:t>
                      </a:r>
                      <a:endParaRPr sz="900">
                        <a:solidFill>
                          <a:srgbClr val="1A1A1A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аналитика </a:t>
                      </a:r>
                      <a:endParaRPr sz="1000" u="none" strike="noStrike" cap="none"/>
                    </a:p>
                  </a:txBody>
                  <a:tcPr marL="19650" marR="13100" marT="13100" marB="817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CE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аномалии, прогноз, агенты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🟡 частично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🟡 ограниченно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предикция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Стоимость внедрения</a:t>
                      </a:r>
                      <a:endParaRPr sz="900" b="0" u="none" strike="noStrike" cap="none">
                        <a:solidFill>
                          <a:srgbClr val="1A1A1A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9650" marR="13100" marT="13100" marB="817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CE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низкая (SaaS + пилот)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высокая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высокая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🟡 средняя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низкая (OpEx)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низкая (лицензии) → высокий ФОТ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Локализация</a:t>
                      </a:r>
                      <a:endParaRPr sz="900" b="0" u="none" strike="noStrike" cap="none">
                        <a:solidFill>
                          <a:srgbClr val="1A1A1A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9650" marR="13100" marT="13100" marB="817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CE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🇷🇺 российский стек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🌍 импортное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🌍 импортное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🇷🇺 российская (без ML)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🇷🇺 российская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🌐 Open Source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ROI / </a:t>
                      </a:r>
                      <a:endParaRPr sz="900">
                        <a:solidFill>
                          <a:srgbClr val="1A1A1A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A1A1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окупаемость</a:t>
                      </a:r>
                      <a:endParaRPr sz="900" b="0" u="none" strike="noStrike" cap="none">
                        <a:solidFill>
                          <a:srgbClr val="1A1A1A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9650" marR="13100" marT="13100" marB="817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CE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3–6 месяцев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длительная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длительная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🟡 средняя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быстрая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🟡 зависит от команды</a:t>
                      </a:r>
                      <a:endParaRPr sz="9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4"/>
          <p:cNvGrpSpPr/>
          <p:nvPr/>
        </p:nvGrpSpPr>
        <p:grpSpPr>
          <a:xfrm>
            <a:off x="267171" y="437254"/>
            <a:ext cx="2379574" cy="77398"/>
            <a:chOff x="587448" y="961426"/>
            <a:chExt cx="5232132" cy="170180"/>
          </a:xfrm>
        </p:grpSpPr>
        <p:sp>
          <p:nvSpPr>
            <p:cNvPr id="231" name="Google Shape;231;p14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1733099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14"/>
          <p:cNvGrpSpPr/>
          <p:nvPr/>
        </p:nvGrpSpPr>
        <p:grpSpPr>
          <a:xfrm>
            <a:off x="4574091" y="4926409"/>
            <a:ext cx="1829047" cy="216887"/>
            <a:chOff x="10057369" y="10832026"/>
            <a:chExt cx="4021652" cy="476884"/>
          </a:xfrm>
        </p:grpSpPr>
        <p:sp>
          <p:nvSpPr>
            <p:cNvPr id="236" name="Google Shape;236;p14"/>
            <p:cNvSpPr/>
            <p:nvPr/>
          </p:nvSpPr>
          <p:spPr>
            <a:xfrm>
              <a:off x="1005736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2067977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14"/>
          <p:cNvGrpSpPr/>
          <p:nvPr/>
        </p:nvGrpSpPr>
        <p:grpSpPr>
          <a:xfrm>
            <a:off x="7317376" y="4926409"/>
            <a:ext cx="1826164" cy="216887"/>
            <a:chOff x="16089216" y="10832026"/>
            <a:chExt cx="4015313" cy="476884"/>
          </a:xfrm>
        </p:grpSpPr>
        <p:sp>
          <p:nvSpPr>
            <p:cNvPr id="239" name="Google Shape;239;p14"/>
            <p:cNvSpPr/>
            <p:nvPr/>
          </p:nvSpPr>
          <p:spPr>
            <a:xfrm>
              <a:off x="16089216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18099835" y="10832026"/>
              <a:ext cx="2004694" cy="476884"/>
            </a:xfrm>
            <a:custGeom>
              <a:avLst/>
              <a:gdLst/>
              <a:ahLst/>
              <a:cxnLst/>
              <a:rect l="l" t="t" r="r" b="b"/>
              <a:pathLst>
                <a:path w="2004694" h="476884" extrusionOk="0">
                  <a:moveTo>
                    <a:pt x="200426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04263" y="476529"/>
                  </a:lnTo>
                  <a:lnTo>
                    <a:pt x="2004263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14"/>
          <p:cNvGrpSpPr/>
          <p:nvPr/>
        </p:nvGrpSpPr>
        <p:grpSpPr>
          <a:xfrm>
            <a:off x="2900" y="4926409"/>
            <a:ext cx="4572250" cy="216887"/>
            <a:chOff x="6375" y="10832026"/>
            <a:chExt cx="10053320" cy="476884"/>
          </a:xfrm>
        </p:grpSpPr>
        <p:sp>
          <p:nvSpPr>
            <p:cNvPr id="242" name="Google Shape;242;p14"/>
            <p:cNvSpPr/>
            <p:nvPr/>
          </p:nvSpPr>
          <p:spPr>
            <a:xfrm>
              <a:off x="604034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027625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0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01" y="476529"/>
                  </a:lnTo>
                  <a:lnTo>
                    <a:pt x="201310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20170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6375" y="10832026"/>
              <a:ext cx="10053320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117" y="0"/>
                  </a:moveTo>
                  <a:lnTo>
                    <a:pt x="8042491" y="0"/>
                  </a:lnTo>
                  <a:lnTo>
                    <a:pt x="8042491" y="476529"/>
                  </a:lnTo>
                  <a:lnTo>
                    <a:pt x="10053117" y="476529"/>
                  </a:lnTo>
                  <a:lnTo>
                    <a:pt x="10053117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4"/>
          <p:cNvSpPr/>
          <p:nvPr/>
        </p:nvSpPr>
        <p:spPr>
          <a:xfrm>
            <a:off x="6403414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256975" y="665677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Ю</a:t>
            </a:r>
            <a:r>
              <a:rPr lang="ru" sz="27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НИТ-ЭКОНОМИКА</a:t>
            </a: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 B2B SaaS</a:t>
            </a:r>
            <a:endParaRPr sz="2700" b="1">
              <a:solidFill>
                <a:srgbClr val="8F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8" name="Google Shape;248;p14"/>
          <p:cNvGrpSpPr/>
          <p:nvPr/>
        </p:nvGrpSpPr>
        <p:grpSpPr>
          <a:xfrm>
            <a:off x="0" y="437254"/>
            <a:ext cx="2646745" cy="77402"/>
            <a:chOff x="0" y="961426"/>
            <a:chExt cx="5819580" cy="170190"/>
          </a:xfrm>
        </p:grpSpPr>
        <p:sp>
          <p:nvSpPr>
            <p:cNvPr id="249" name="Google Shape;249;p14"/>
            <p:cNvSpPr/>
            <p:nvPr/>
          </p:nvSpPr>
          <p:spPr>
            <a:xfrm>
              <a:off x="0" y="96143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37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37" y="170120"/>
                  </a:lnTo>
                  <a:lnTo>
                    <a:pt x="587437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1733099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6" name="Picture 255" descr="slide6_new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" y="1105775"/>
            <a:ext cx="9144049" cy="2049400"/>
          </a:xfrm>
          <a:prstGeom prst="rect">
            <a:avLst/>
          </a:prstGeom>
        </p:spPr>
      </p:pic>
      <p:pic>
        <p:nvPicPr>
          <p:cNvPr id="257" name="Picture 256" descr="slide6_new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5" y="3155175"/>
            <a:ext cx="8533800" cy="1618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5"/>
          <p:cNvGrpSpPr/>
          <p:nvPr/>
        </p:nvGrpSpPr>
        <p:grpSpPr>
          <a:xfrm>
            <a:off x="0" y="437254"/>
            <a:ext cx="2646745" cy="77402"/>
            <a:chOff x="0" y="961426"/>
            <a:chExt cx="5819580" cy="170190"/>
          </a:xfrm>
        </p:grpSpPr>
        <p:sp>
          <p:nvSpPr>
            <p:cNvPr id="261" name="Google Shape;261;p15"/>
            <p:cNvSpPr/>
            <p:nvPr/>
          </p:nvSpPr>
          <p:spPr>
            <a:xfrm>
              <a:off x="0" y="96143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37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37" y="170120"/>
                  </a:lnTo>
                  <a:lnTo>
                    <a:pt x="587437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733099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15"/>
          <p:cNvGrpSpPr/>
          <p:nvPr/>
        </p:nvGrpSpPr>
        <p:grpSpPr>
          <a:xfrm>
            <a:off x="4574091" y="4926409"/>
            <a:ext cx="1829047" cy="216887"/>
            <a:chOff x="10057369" y="10832026"/>
            <a:chExt cx="4021652" cy="476884"/>
          </a:xfrm>
        </p:grpSpPr>
        <p:sp>
          <p:nvSpPr>
            <p:cNvPr id="267" name="Google Shape;267;p15"/>
            <p:cNvSpPr/>
            <p:nvPr/>
          </p:nvSpPr>
          <p:spPr>
            <a:xfrm>
              <a:off x="1005736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12067977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15"/>
          <p:cNvGrpSpPr/>
          <p:nvPr/>
        </p:nvGrpSpPr>
        <p:grpSpPr>
          <a:xfrm>
            <a:off x="7317376" y="4926409"/>
            <a:ext cx="1826164" cy="216887"/>
            <a:chOff x="16089216" y="10832026"/>
            <a:chExt cx="4015313" cy="476884"/>
          </a:xfrm>
        </p:grpSpPr>
        <p:sp>
          <p:nvSpPr>
            <p:cNvPr id="270" name="Google Shape;270;p15"/>
            <p:cNvSpPr/>
            <p:nvPr/>
          </p:nvSpPr>
          <p:spPr>
            <a:xfrm>
              <a:off x="16089216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18099835" y="10832026"/>
              <a:ext cx="2004694" cy="476884"/>
            </a:xfrm>
            <a:custGeom>
              <a:avLst/>
              <a:gdLst/>
              <a:ahLst/>
              <a:cxnLst/>
              <a:rect l="l" t="t" r="r" b="b"/>
              <a:pathLst>
                <a:path w="2004694" h="476884" extrusionOk="0">
                  <a:moveTo>
                    <a:pt x="200426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04263" y="476529"/>
                  </a:lnTo>
                  <a:lnTo>
                    <a:pt x="2004263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15"/>
          <p:cNvGrpSpPr/>
          <p:nvPr/>
        </p:nvGrpSpPr>
        <p:grpSpPr>
          <a:xfrm>
            <a:off x="2900" y="4926409"/>
            <a:ext cx="4572250" cy="216887"/>
            <a:chOff x="6375" y="10832026"/>
            <a:chExt cx="10053320" cy="476884"/>
          </a:xfrm>
        </p:grpSpPr>
        <p:sp>
          <p:nvSpPr>
            <p:cNvPr id="273" name="Google Shape;273;p15"/>
            <p:cNvSpPr/>
            <p:nvPr/>
          </p:nvSpPr>
          <p:spPr>
            <a:xfrm>
              <a:off x="604034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4027625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0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01" y="476529"/>
                  </a:lnTo>
                  <a:lnTo>
                    <a:pt x="201310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20170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6375" y="10832026"/>
              <a:ext cx="10053320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117" y="0"/>
                  </a:moveTo>
                  <a:lnTo>
                    <a:pt x="8042491" y="0"/>
                  </a:lnTo>
                  <a:lnTo>
                    <a:pt x="8042491" y="476529"/>
                  </a:lnTo>
                  <a:lnTo>
                    <a:pt x="10053117" y="476529"/>
                  </a:lnTo>
                  <a:lnTo>
                    <a:pt x="10053117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5"/>
          <p:cNvSpPr/>
          <p:nvPr/>
        </p:nvSpPr>
        <p:spPr>
          <a:xfrm>
            <a:off x="6403414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395007" y="681165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КОМАНДА И ПРОГРЕСС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5"/>
          <p:cNvGrpSpPr/>
          <p:nvPr/>
        </p:nvGrpSpPr>
        <p:grpSpPr>
          <a:xfrm>
            <a:off x="381000" y="1333500"/>
            <a:ext cx="8382000" cy="2762175"/>
            <a:chOff x="381000" y="1333500"/>
            <a:chExt cx="8382000" cy="2762175"/>
          </a:xfrm>
        </p:grpSpPr>
        <p:sp>
          <p:nvSpPr>
            <p:cNvPr id="280" name="Google Shape;280;p15"/>
            <p:cNvSpPr/>
            <p:nvPr/>
          </p:nvSpPr>
          <p:spPr>
            <a:xfrm>
              <a:off x="381000" y="1333500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 txBox="1"/>
            <p:nvPr/>
          </p:nvSpPr>
          <p:spPr>
            <a:xfrm>
              <a:off x="523875" y="1428750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Дмитрий Пузаков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ML algo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ML; аномалии качество моделей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238500" y="1333500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 txBox="1"/>
            <p:nvPr/>
          </p:nvSpPr>
          <p:spPr>
            <a:xfrm>
              <a:off x="3381375" y="1428750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Сергей Маклаков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PM / DevSecOps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CI/CD; инфраструктура управление проектом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6096000" y="1333500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 txBox="1"/>
            <p:nvPr/>
          </p:nvSpPr>
          <p:spPr>
            <a:xfrm>
              <a:off x="6238875" y="1428750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Иван Мигачев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ML data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данные; эксперименты валидация моделей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381000" y="2809875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 txBox="1"/>
            <p:nvPr/>
          </p:nvSpPr>
          <p:spPr>
            <a:xfrm>
              <a:off x="523875" y="2905125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Дмитрий Мукасеев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SEO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продвижение; упаковка маркетинговые материалы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3238500" y="2809875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 txBox="1"/>
            <p:nvPr/>
          </p:nvSpPr>
          <p:spPr>
            <a:xfrm>
              <a:off x="3381375" y="2905125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Никита Киселев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Frontend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дашборд; UI/UX визуализация метрик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6096000" y="2809875"/>
              <a:ext cx="2667000" cy="1285800"/>
            </a:xfrm>
            <a:prstGeom prst="roundRect">
              <a:avLst>
                <a:gd name="adj" fmla="val 8888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 txBox="1"/>
            <p:nvPr/>
          </p:nvSpPr>
          <p:spPr>
            <a:xfrm>
              <a:off x="6238875" y="2905125"/>
              <a:ext cx="2381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Роман Киваев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A855F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Backend</a:t>
              </a:r>
              <a:endParaRPr sz="1000" b="1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900" b="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API; БД; интеграции серверная логика</a:t>
              </a:r>
              <a:endParaRPr sz="900" b="0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92" name="Google Shape;292;p15"/>
          <p:cNvGrpSpPr/>
          <p:nvPr/>
        </p:nvGrpSpPr>
        <p:grpSpPr>
          <a:xfrm>
            <a:off x="381000" y="4238625"/>
            <a:ext cx="8382000" cy="571500"/>
            <a:chOff x="381000" y="4238625"/>
            <a:chExt cx="8382000" cy="571500"/>
          </a:xfrm>
        </p:grpSpPr>
        <p:sp>
          <p:nvSpPr>
            <p:cNvPr id="293" name="Google Shape;293;p15"/>
            <p:cNvSpPr/>
            <p:nvPr/>
          </p:nvSpPr>
          <p:spPr>
            <a:xfrm>
              <a:off x="381000" y="4238625"/>
              <a:ext cx="8382000" cy="5715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5"/>
            <p:cNvSpPr txBox="1"/>
            <p:nvPr/>
          </p:nvSpPr>
          <p:spPr>
            <a:xfrm>
              <a:off x="571500" y="423862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 b="1">
                  <a:solidFill>
                    <a:srgbClr val="8F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Прогресс:</a:t>
              </a:r>
              <a:r>
                <a:rPr lang="ru" sz="10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MVP собран — Frontend + Backend + ML-ядро + Docker-сборка + сценарий пилота</a:t>
              </a:r>
              <a:endParaRPr sz="10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ru" sz="900" b="1">
                  <a:solidFill>
                    <a:srgbClr val="22C55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75% MVP.</a:t>
              </a:r>
              <a:r>
                <a:rPr lang="ru" sz="90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TRL 4 - 5 . Пилот на реальном объекте — следующий шаг</a:t>
              </a:r>
              <a:endParaRPr sz="9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6"/>
          <p:cNvGrpSpPr/>
          <p:nvPr/>
        </p:nvGrpSpPr>
        <p:grpSpPr>
          <a:xfrm>
            <a:off x="0" y="437254"/>
            <a:ext cx="2646745" cy="77402"/>
            <a:chOff x="0" y="961426"/>
            <a:chExt cx="5819580" cy="170190"/>
          </a:xfrm>
        </p:grpSpPr>
        <p:sp>
          <p:nvSpPr>
            <p:cNvPr id="300" name="Google Shape;300;p16"/>
            <p:cNvSpPr/>
            <p:nvPr/>
          </p:nvSpPr>
          <p:spPr>
            <a:xfrm>
              <a:off x="0" y="96143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37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37" y="170120"/>
                  </a:lnTo>
                  <a:lnTo>
                    <a:pt x="587437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733099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16"/>
          <p:cNvGrpSpPr/>
          <p:nvPr/>
        </p:nvGrpSpPr>
        <p:grpSpPr>
          <a:xfrm>
            <a:off x="4574091" y="4926409"/>
            <a:ext cx="1829047" cy="216887"/>
            <a:chOff x="10057369" y="10832026"/>
            <a:chExt cx="4021652" cy="476884"/>
          </a:xfrm>
        </p:grpSpPr>
        <p:sp>
          <p:nvSpPr>
            <p:cNvPr id="306" name="Google Shape;306;p16"/>
            <p:cNvSpPr/>
            <p:nvPr/>
          </p:nvSpPr>
          <p:spPr>
            <a:xfrm>
              <a:off x="1005736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12067977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6"/>
          <p:cNvGrpSpPr/>
          <p:nvPr/>
        </p:nvGrpSpPr>
        <p:grpSpPr>
          <a:xfrm>
            <a:off x="7317376" y="4926409"/>
            <a:ext cx="1826164" cy="216887"/>
            <a:chOff x="16089216" y="10832026"/>
            <a:chExt cx="4015313" cy="476884"/>
          </a:xfrm>
        </p:grpSpPr>
        <p:sp>
          <p:nvSpPr>
            <p:cNvPr id="309" name="Google Shape;309;p16"/>
            <p:cNvSpPr/>
            <p:nvPr/>
          </p:nvSpPr>
          <p:spPr>
            <a:xfrm>
              <a:off x="16089216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18099835" y="10832026"/>
              <a:ext cx="2004694" cy="476884"/>
            </a:xfrm>
            <a:custGeom>
              <a:avLst/>
              <a:gdLst/>
              <a:ahLst/>
              <a:cxnLst/>
              <a:rect l="l" t="t" r="r" b="b"/>
              <a:pathLst>
                <a:path w="2004694" h="476884" extrusionOk="0">
                  <a:moveTo>
                    <a:pt x="200426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04263" y="476529"/>
                  </a:lnTo>
                  <a:lnTo>
                    <a:pt x="2004263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16"/>
          <p:cNvGrpSpPr/>
          <p:nvPr/>
        </p:nvGrpSpPr>
        <p:grpSpPr>
          <a:xfrm>
            <a:off x="2900" y="4926409"/>
            <a:ext cx="4572250" cy="216887"/>
            <a:chOff x="6375" y="10832026"/>
            <a:chExt cx="10053320" cy="476884"/>
          </a:xfrm>
        </p:grpSpPr>
        <p:sp>
          <p:nvSpPr>
            <p:cNvPr id="312" name="Google Shape;312;p16"/>
            <p:cNvSpPr/>
            <p:nvPr/>
          </p:nvSpPr>
          <p:spPr>
            <a:xfrm>
              <a:off x="604034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4027625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0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01" y="476529"/>
                  </a:lnTo>
                  <a:lnTo>
                    <a:pt x="201310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20170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6375" y="10832026"/>
              <a:ext cx="10053320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117" y="0"/>
                  </a:moveTo>
                  <a:lnTo>
                    <a:pt x="8042491" y="0"/>
                  </a:lnTo>
                  <a:lnTo>
                    <a:pt x="8042491" y="476529"/>
                  </a:lnTo>
                  <a:lnTo>
                    <a:pt x="10053117" y="476529"/>
                  </a:lnTo>
                  <a:lnTo>
                    <a:pt x="10053117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16"/>
          <p:cNvSpPr/>
          <p:nvPr/>
        </p:nvSpPr>
        <p:spPr>
          <a:xfrm>
            <a:off x="6403414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2907" y="514653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ПЛАНЫ РАЗВИТИЯ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6"/>
          <p:cNvGrpSpPr/>
          <p:nvPr/>
        </p:nvGrpSpPr>
        <p:grpSpPr>
          <a:xfrm>
            <a:off x="381000" y="1143000"/>
            <a:ext cx="8429700" cy="3524400"/>
            <a:chOff x="381000" y="1143000"/>
            <a:chExt cx="8429700" cy="3524400"/>
          </a:xfrm>
        </p:grpSpPr>
        <p:sp>
          <p:nvSpPr>
            <p:cNvPr id="319" name="Google Shape;319;p16"/>
            <p:cNvSpPr/>
            <p:nvPr/>
          </p:nvSpPr>
          <p:spPr>
            <a:xfrm>
              <a:off x="381000" y="1143000"/>
              <a:ext cx="2000100" cy="190500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6"/>
            <p:cNvSpPr txBox="1"/>
            <p:nvPr/>
          </p:nvSpPr>
          <p:spPr>
            <a:xfrm>
              <a:off x="523875" y="1285875"/>
              <a:ext cx="1714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8F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Сейчас</a:t>
              </a:r>
              <a:endParaRPr sz="1800" b="1" dirty="0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 b="1" dirty="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Q2 2026</a:t>
              </a:r>
              <a:endParaRPr sz="1100" b="1" dirty="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MVP собран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Frontend + Backend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Docker-сборка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2524125" y="1143000"/>
              <a:ext cx="2000100" cy="1905000"/>
            </a:xfrm>
            <a:prstGeom prst="roundRect">
              <a:avLst>
                <a:gd name="adj" fmla="val 7500"/>
              </a:avLst>
            </a:prstGeom>
            <a:solidFill>
              <a:srgbClr val="F0F9FF"/>
            </a:solidFill>
            <a:ln w="9525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6"/>
            <p:cNvSpPr txBox="1"/>
            <p:nvPr/>
          </p:nvSpPr>
          <p:spPr>
            <a:xfrm>
              <a:off x="2667000" y="1285875"/>
              <a:ext cx="1714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0EA5E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Пилот</a:t>
              </a:r>
              <a:endParaRPr sz="1800" b="1" dirty="0">
                <a:solidFill>
                  <a:srgbClr val="0EA5E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 b="1" dirty="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Q3 2026</a:t>
              </a:r>
              <a:endParaRPr sz="1100" b="1" dirty="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3-5 промышленных объектов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Реальные данные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Замер точности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4667250" y="1143000"/>
              <a:ext cx="2000100" cy="1905000"/>
            </a:xfrm>
            <a:prstGeom prst="roundRect">
              <a:avLst>
                <a:gd name="adj" fmla="val 7500"/>
              </a:avLst>
            </a:prstGeom>
            <a:solidFill>
              <a:srgbClr val="FDF2F8"/>
            </a:solidFill>
            <a:ln w="9525" cap="flat" cmpd="sng">
              <a:solidFill>
                <a:srgbClr val="FBCF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6"/>
            <p:cNvSpPr txBox="1"/>
            <p:nvPr/>
          </p:nvSpPr>
          <p:spPr>
            <a:xfrm>
              <a:off x="4810125" y="1285875"/>
              <a:ext cx="1714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DB2777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Продукт</a:t>
              </a:r>
              <a:endParaRPr sz="1800" b="1" dirty="0">
                <a:solidFill>
                  <a:srgbClr val="DB2777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 b="1" dirty="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Q4 2026</a:t>
              </a:r>
              <a:endParaRPr sz="1100" b="1" dirty="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3-5 платных клиентов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SaaS подписка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Pre-seed раунд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6810375" y="1143000"/>
              <a:ext cx="2000100" cy="1905000"/>
            </a:xfrm>
            <a:prstGeom prst="roundRect">
              <a:avLst>
                <a:gd name="adj" fmla="val 7500"/>
              </a:avLst>
            </a:prstGeom>
            <a:solidFill>
              <a:srgbClr val="F5F3FF"/>
            </a:solidFill>
            <a:ln w="9525" cap="flat" cmpd="sng">
              <a:solidFill>
                <a:srgbClr val="DDD6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6953250" y="1285875"/>
              <a:ext cx="1714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7C3AE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Масштаб</a:t>
              </a:r>
              <a:endParaRPr sz="1800" b="1" dirty="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" sz="1100" b="1" dirty="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2027+</a:t>
              </a:r>
              <a:endParaRPr sz="1100" b="1" dirty="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15–25 крупных контрактов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Партнёрский канал (КРОК, Rubytech)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Trebuchet MS"/>
                <a:buChar char="●"/>
              </a:pPr>
              <a:r>
                <a:rPr lang="ru" sz="1000" dirty="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Seed инвестиции</a:t>
              </a:r>
              <a:endParaRPr sz="1000" dirty="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81000" y="3238500"/>
              <a:ext cx="8429700" cy="1428900"/>
            </a:xfrm>
            <a:prstGeom prst="roundRect">
              <a:avLst>
                <a:gd name="adj" fmla="val 10000"/>
              </a:avLst>
            </a:prstGeom>
            <a:solidFill>
              <a:srgbClr val="1E1B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571500" y="3381375"/>
              <a:ext cx="8048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4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Ключевые метрики успеха</a:t>
              </a:r>
              <a:endPara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329" name="Google Shape;329;p16"/>
            <p:cNvGrpSpPr/>
            <p:nvPr/>
          </p:nvGrpSpPr>
          <p:grpSpPr>
            <a:xfrm>
              <a:off x="571500" y="3762375"/>
              <a:ext cx="8000850" cy="762000"/>
              <a:chOff x="0" y="0"/>
              <a:chExt cx="8000850" cy="762000"/>
            </a:xfrm>
          </p:grpSpPr>
          <p:sp>
            <p:nvSpPr>
              <p:cNvPr id="330" name="Google Shape;330;p16"/>
              <p:cNvSpPr txBox="1"/>
              <p:nvPr/>
            </p:nvSpPr>
            <p:spPr>
              <a:xfrm>
                <a:off x="0" y="0"/>
                <a:ext cx="1809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>
                    <a:solidFill>
                      <a:srgbClr val="8F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10</a:t>
                </a:r>
                <a:endParaRPr sz="2000" b="1">
                  <a:solidFill>
                    <a:srgbClr val="8F00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000">
                    <a:solidFill>
                      <a:srgbClr val="94A3B8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пилотов за год</a:t>
                </a:r>
                <a:endParaRPr sz="100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331" name="Google Shape;331;p16"/>
              <p:cNvSpPr txBox="1"/>
              <p:nvPr/>
            </p:nvSpPr>
            <p:spPr>
              <a:xfrm>
                <a:off x="2000250" y="0"/>
                <a:ext cx="1809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>
                    <a:solidFill>
                      <a:srgbClr val="22C55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85%+</a:t>
                </a:r>
                <a:endParaRPr sz="2000" b="1">
                  <a:solidFill>
                    <a:srgbClr val="22C55E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000">
                    <a:solidFill>
                      <a:srgbClr val="94A3B8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точность детекции</a:t>
                </a:r>
                <a:endParaRPr sz="100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332" name="Google Shape;332;p16"/>
              <p:cNvSpPr txBox="1"/>
              <p:nvPr/>
            </p:nvSpPr>
            <p:spPr>
              <a:xfrm>
                <a:off x="4000500" y="0"/>
                <a:ext cx="2000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>
                    <a:solidFill>
                      <a:srgbClr val="EF444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&lt; 15 мин</a:t>
                </a:r>
                <a:endParaRPr sz="2000" b="1">
                  <a:solidFill>
                    <a:srgbClr val="EF4444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000">
                    <a:solidFill>
                      <a:srgbClr val="94A3B8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детекция аномалий</a:t>
                </a:r>
                <a:endParaRPr sz="100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333" name="Google Shape;333;p16"/>
              <p:cNvSpPr txBox="1"/>
              <p:nvPr/>
            </p:nvSpPr>
            <p:spPr>
              <a:xfrm>
                <a:off x="6191250" y="0"/>
                <a:ext cx="1809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>
                    <a:solidFill>
                      <a:srgbClr val="F59E0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Pre-seed: 5–15M</a:t>
                </a:r>
                <a:endParaRPr sz="2000" b="1">
                  <a:solidFill>
                    <a:srgbClr val="F59E0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000">
                    <a:solidFill>
                      <a:srgbClr val="94A3B8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цель Pre-seed раунда</a:t>
                </a:r>
                <a:endParaRPr sz="1000">
                  <a:solidFill>
                    <a:srgbClr val="94A3B8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7"/>
          <p:cNvGrpSpPr/>
          <p:nvPr/>
        </p:nvGrpSpPr>
        <p:grpSpPr>
          <a:xfrm>
            <a:off x="0" y="437254"/>
            <a:ext cx="2646745" cy="77402"/>
            <a:chOff x="0" y="961426"/>
            <a:chExt cx="5819580" cy="170190"/>
          </a:xfrm>
        </p:grpSpPr>
        <p:sp>
          <p:nvSpPr>
            <p:cNvPr id="339" name="Google Shape;339;p17"/>
            <p:cNvSpPr/>
            <p:nvPr/>
          </p:nvSpPr>
          <p:spPr>
            <a:xfrm>
              <a:off x="0" y="96143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37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37" y="170120"/>
                  </a:lnTo>
                  <a:lnTo>
                    <a:pt x="587437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587448" y="961426"/>
              <a:ext cx="588010" cy="170180"/>
            </a:xfrm>
            <a:custGeom>
              <a:avLst/>
              <a:gdLst/>
              <a:ahLst/>
              <a:cxnLst/>
              <a:rect l="l" t="t" r="r" b="b"/>
              <a:pathLst>
                <a:path w="588010" h="170180" extrusionOk="0">
                  <a:moveTo>
                    <a:pt x="587448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7448" y="170120"/>
                  </a:lnTo>
                  <a:lnTo>
                    <a:pt x="587448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1174896" y="961426"/>
              <a:ext cx="558800" cy="170180"/>
            </a:xfrm>
            <a:custGeom>
              <a:avLst/>
              <a:gdLst/>
              <a:ahLst/>
              <a:cxnLst/>
              <a:rect l="l" t="t" r="r" b="b"/>
              <a:pathLst>
                <a:path w="558800" h="170180" extrusionOk="0">
                  <a:moveTo>
                    <a:pt x="558202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58202" y="170120"/>
                  </a:lnTo>
                  <a:lnTo>
                    <a:pt x="558202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1733099" y="961426"/>
              <a:ext cx="583564" cy="170180"/>
            </a:xfrm>
            <a:custGeom>
              <a:avLst/>
              <a:gdLst/>
              <a:ahLst/>
              <a:cxnLst/>
              <a:rect l="l" t="t" r="r" b="b"/>
              <a:pathLst>
                <a:path w="583564" h="170180" extrusionOk="0">
                  <a:moveTo>
                    <a:pt x="583186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583186" y="170120"/>
                  </a:lnTo>
                  <a:lnTo>
                    <a:pt x="583186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316285" y="961426"/>
              <a:ext cx="3503295" cy="170180"/>
            </a:xfrm>
            <a:custGeom>
              <a:avLst/>
              <a:gdLst/>
              <a:ahLst/>
              <a:cxnLst/>
              <a:rect l="l" t="t" r="r" b="b"/>
              <a:pathLst>
                <a:path w="3503295" h="170180" extrusionOk="0">
                  <a:moveTo>
                    <a:pt x="3502919" y="0"/>
                  </a:moveTo>
                  <a:lnTo>
                    <a:pt x="0" y="0"/>
                  </a:lnTo>
                  <a:lnTo>
                    <a:pt x="0" y="170120"/>
                  </a:lnTo>
                  <a:lnTo>
                    <a:pt x="3502919" y="170120"/>
                  </a:lnTo>
                  <a:lnTo>
                    <a:pt x="350291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17"/>
          <p:cNvGrpSpPr/>
          <p:nvPr/>
        </p:nvGrpSpPr>
        <p:grpSpPr>
          <a:xfrm>
            <a:off x="4574091" y="4926409"/>
            <a:ext cx="1829047" cy="216887"/>
            <a:chOff x="10057369" y="10832026"/>
            <a:chExt cx="4021652" cy="476884"/>
          </a:xfrm>
        </p:grpSpPr>
        <p:sp>
          <p:nvSpPr>
            <p:cNvPr id="345" name="Google Shape;345;p17"/>
            <p:cNvSpPr/>
            <p:nvPr/>
          </p:nvSpPr>
          <p:spPr>
            <a:xfrm>
              <a:off x="1005736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12067977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4A1B3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17"/>
          <p:cNvGrpSpPr/>
          <p:nvPr/>
        </p:nvGrpSpPr>
        <p:grpSpPr>
          <a:xfrm>
            <a:off x="7317376" y="4926409"/>
            <a:ext cx="1826164" cy="216887"/>
            <a:chOff x="16089216" y="10832026"/>
            <a:chExt cx="4015313" cy="476884"/>
          </a:xfrm>
        </p:grpSpPr>
        <p:sp>
          <p:nvSpPr>
            <p:cNvPr id="348" name="Google Shape;348;p17"/>
            <p:cNvSpPr/>
            <p:nvPr/>
          </p:nvSpPr>
          <p:spPr>
            <a:xfrm>
              <a:off x="16089216" y="10832026"/>
              <a:ext cx="2011044" cy="476884"/>
            </a:xfrm>
            <a:custGeom>
              <a:avLst/>
              <a:gdLst/>
              <a:ahLst/>
              <a:cxnLst/>
              <a:rect l="l" t="t" r="r" b="b"/>
              <a:pathLst>
                <a:path w="2011044" h="476884" extrusionOk="0">
                  <a:moveTo>
                    <a:pt x="201062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29" y="476529"/>
                  </a:lnTo>
                  <a:lnTo>
                    <a:pt x="2010629" y="0"/>
                  </a:lnTo>
                  <a:close/>
                </a:path>
              </a:pathLst>
            </a:custGeom>
            <a:solidFill>
              <a:srgbClr val="B5D8E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8099835" y="10832026"/>
              <a:ext cx="2004694" cy="476884"/>
            </a:xfrm>
            <a:custGeom>
              <a:avLst/>
              <a:gdLst/>
              <a:ahLst/>
              <a:cxnLst/>
              <a:rect l="l" t="t" r="r" b="b"/>
              <a:pathLst>
                <a:path w="2004694" h="476884" extrusionOk="0">
                  <a:moveTo>
                    <a:pt x="200426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04263" y="476529"/>
                  </a:lnTo>
                  <a:lnTo>
                    <a:pt x="2004263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17"/>
          <p:cNvGrpSpPr/>
          <p:nvPr/>
        </p:nvGrpSpPr>
        <p:grpSpPr>
          <a:xfrm>
            <a:off x="2900" y="4926409"/>
            <a:ext cx="4572250" cy="216887"/>
            <a:chOff x="6375" y="10832026"/>
            <a:chExt cx="10053320" cy="476884"/>
          </a:xfrm>
        </p:grpSpPr>
        <p:sp>
          <p:nvSpPr>
            <p:cNvPr id="351" name="Google Shape;351;p17"/>
            <p:cNvSpPr/>
            <p:nvPr/>
          </p:nvSpPr>
          <p:spPr>
            <a:xfrm>
              <a:off x="6040349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FCAF17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4027625" y="10832026"/>
              <a:ext cx="2013585" cy="476884"/>
            </a:xfrm>
            <a:custGeom>
              <a:avLst/>
              <a:gdLst/>
              <a:ahLst/>
              <a:cxnLst/>
              <a:rect l="l" t="t" r="r" b="b"/>
              <a:pathLst>
                <a:path w="2013585" h="476884" extrusionOk="0">
                  <a:moveTo>
                    <a:pt x="2013101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3101" y="476529"/>
                  </a:lnTo>
                  <a:lnTo>
                    <a:pt x="2013101" y="0"/>
                  </a:lnTo>
                  <a:close/>
                </a:path>
              </a:pathLst>
            </a:custGeom>
            <a:solidFill>
              <a:srgbClr val="FBB3C1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2017017" y="10832026"/>
              <a:ext cx="2011045" cy="476884"/>
            </a:xfrm>
            <a:custGeom>
              <a:avLst/>
              <a:gdLst/>
              <a:ahLst/>
              <a:cxnLst/>
              <a:rect l="l" t="t" r="r" b="b"/>
              <a:pathLst>
                <a:path w="2011045" h="476884" extrusionOk="0">
                  <a:moveTo>
                    <a:pt x="2010619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9" y="476529"/>
                  </a:lnTo>
                  <a:lnTo>
                    <a:pt x="2010619" y="0"/>
                  </a:lnTo>
                  <a:close/>
                </a:path>
              </a:pathLst>
            </a:custGeom>
            <a:solidFill>
              <a:srgbClr val="8F00FF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6375" y="10832026"/>
              <a:ext cx="10053320" cy="476884"/>
            </a:xfrm>
            <a:custGeom>
              <a:avLst/>
              <a:gdLst/>
              <a:ahLst/>
              <a:cxnLst/>
              <a:rect l="l" t="t" r="r" b="b"/>
              <a:pathLst>
                <a:path w="10053320" h="476884" extrusionOk="0">
                  <a:moveTo>
                    <a:pt x="2010613" y="0"/>
                  </a:moveTo>
                  <a:lnTo>
                    <a:pt x="0" y="0"/>
                  </a:lnTo>
                  <a:lnTo>
                    <a:pt x="0" y="476529"/>
                  </a:lnTo>
                  <a:lnTo>
                    <a:pt x="2010613" y="476529"/>
                  </a:lnTo>
                  <a:lnTo>
                    <a:pt x="2010613" y="0"/>
                  </a:lnTo>
                  <a:close/>
                </a:path>
                <a:path w="10053320" h="476884" extrusionOk="0">
                  <a:moveTo>
                    <a:pt x="10053117" y="0"/>
                  </a:moveTo>
                  <a:lnTo>
                    <a:pt x="8042491" y="0"/>
                  </a:lnTo>
                  <a:lnTo>
                    <a:pt x="8042491" y="476529"/>
                  </a:lnTo>
                  <a:lnTo>
                    <a:pt x="10053117" y="476529"/>
                  </a:lnTo>
                  <a:lnTo>
                    <a:pt x="10053117" y="0"/>
                  </a:lnTo>
                  <a:close/>
                </a:path>
              </a:pathLst>
            </a:custGeom>
            <a:solidFill>
              <a:srgbClr val="FD493D"/>
            </a:solidFill>
            <a:ln>
              <a:noFill/>
            </a:ln>
          </p:spPr>
          <p:txBody>
            <a:bodyPr spcFirstLastPara="1" wrap="square" lIns="16375" tIns="16375" rIns="16375" bIns="163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17"/>
          <p:cNvSpPr/>
          <p:nvPr/>
        </p:nvSpPr>
        <p:spPr>
          <a:xfrm>
            <a:off x="6403414" y="4926413"/>
            <a:ext cx="915025" cy="216982"/>
          </a:xfrm>
          <a:custGeom>
            <a:avLst/>
            <a:gdLst/>
            <a:ahLst/>
            <a:cxnLst/>
            <a:rect l="l" t="t" r="r" b="b"/>
            <a:pathLst>
              <a:path w="2011044" h="476884" extrusionOk="0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spcFirstLastPara="1" wrap="square" lIns="16375" tIns="16375" rIns="16375" bIns="16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300007" y="2351690"/>
            <a:ext cx="8544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75" tIns="7800" rIns="16375" bIns="163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>
                <a:solidFill>
                  <a:srgbClr val="8F00FF"/>
                </a:solidFill>
                <a:latin typeface="Trebuchet MS"/>
                <a:ea typeface="Trebuchet MS"/>
                <a:cs typeface="Trebuchet MS"/>
                <a:sym typeface="Trebuchet MS"/>
              </a:rPr>
              <a:t>Готовы ответить на ваши вопросы!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Экран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Trebuchet MS</vt:lpstr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Сергей Маклаков</cp:lastModifiedBy>
  <cp:revision>1</cp:revision>
  <dcterms:modified xsi:type="dcterms:W3CDTF">2026-05-26T19:50:57Z</dcterms:modified>
</cp:coreProperties>
</file>